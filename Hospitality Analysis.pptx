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70" r:id="rId3"/>
    <p:sldId id="271" r:id="rId4"/>
    <p:sldId id="258" r:id="rId5"/>
    <p:sldId id="257" r:id="rId6"/>
    <p:sldId id="259" r:id="rId7"/>
    <p:sldId id="260" r:id="rId8"/>
    <p:sldId id="272" r:id="rId9"/>
    <p:sldId id="273" r:id="rId10"/>
    <p:sldId id="274" r:id="rId11"/>
    <p:sldId id="275" r:id="rId12"/>
    <p:sldId id="261" r:id="rId13"/>
    <p:sldId id="263" r:id="rId14"/>
    <p:sldId id="264" r:id="rId15"/>
    <p:sldId id="267" r:id="rId16"/>
    <p:sldId id="268"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1B9D27-7080-46B1-8E4A-675BD84D8310}" v="88" dt="2026-01-14T16:19:38.1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1" d="100"/>
          <a:sy n="51" d="100"/>
        </p:scale>
        <p:origin x="125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C61284-E7DE-434D-8C16-A47FD36126F8}" type="datetimeFigureOut">
              <a:rPr lang="en-IN" smtClean="0"/>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1044172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5C61284-E7DE-434D-8C16-A47FD36126F8}" type="datetimeFigureOut">
              <a:rPr lang="en-IN" smtClean="0"/>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4130753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C61284-E7DE-434D-8C16-A47FD36126F8}" type="datetimeFigureOut">
              <a:rPr lang="en-IN" smtClean="0"/>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1001817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C61284-E7DE-434D-8C16-A47FD36126F8}" type="datetimeFigureOut">
              <a:rPr lang="en-IN" smtClean="0"/>
              <a:t>22-01-2026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1879705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C61284-E7DE-434D-8C16-A47FD36126F8}" type="datetimeFigureOut">
              <a:rPr lang="en-IN" smtClean="0"/>
              <a:t>22-01-2026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1333316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5C61284-E7DE-434D-8C16-A47FD36126F8}" type="datetimeFigureOut">
              <a:rPr lang="en-IN" smtClean="0"/>
              <a:t>22-01-2026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2699333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5C61284-E7DE-434D-8C16-A47FD36126F8}" type="datetimeFigureOut">
              <a:rPr lang="en-IN" smtClean="0"/>
              <a:t>22-01-2026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3309957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5C61284-E7DE-434D-8C16-A47FD36126F8}" type="datetimeFigureOut">
              <a:rPr lang="en-IN" smtClean="0"/>
              <a:t>22-01-2026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401439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C61284-E7DE-434D-8C16-A47FD36126F8}" type="datetimeFigureOut">
              <a:rPr lang="en-IN" smtClean="0"/>
              <a:t>22-01-2026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560237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C61284-E7DE-434D-8C16-A47FD36126F8}" type="datetimeFigureOut">
              <a:rPr lang="en-IN" smtClean="0"/>
              <a:t>22-01-2026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1792201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5C61284-E7DE-434D-8C16-A47FD36126F8}" type="datetimeFigureOut">
              <a:rPr lang="en-IN" smtClean="0"/>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23806282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5C61284-E7DE-434D-8C16-A47FD36126F8}" type="datetimeFigureOut">
              <a:rPr lang="en-IN" smtClean="0"/>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3D924E-420C-4717-B167-6B58022759AB}"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321213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C61284-E7DE-434D-8C16-A47FD36126F8}" type="datetimeFigureOut">
              <a:rPr lang="en-IN" smtClean="0"/>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2522276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5C61284-E7DE-434D-8C16-A47FD36126F8}" type="datetimeFigureOut">
              <a:rPr lang="en-IN" smtClean="0"/>
              <a:t>22-01-2026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1759794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5C61284-E7DE-434D-8C16-A47FD36126F8}" type="datetimeFigureOut">
              <a:rPr lang="en-IN" smtClean="0"/>
              <a:t>22-01-2026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22796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C61284-E7DE-434D-8C16-A47FD36126F8}" type="datetimeFigureOut">
              <a:rPr lang="en-IN" smtClean="0"/>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539604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C61284-E7DE-434D-8C16-A47FD36126F8}" type="datetimeFigureOut">
              <a:rPr lang="en-IN" smtClean="0"/>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3D924E-420C-4717-B167-6B58022759AB}" type="slidenum">
              <a:rPr lang="en-IN" smtClean="0"/>
              <a:t>‹#›</a:t>
            </a:fld>
            <a:endParaRPr lang="en-IN"/>
          </a:p>
        </p:txBody>
      </p:sp>
    </p:spTree>
    <p:extLst>
      <p:ext uri="{BB962C8B-B14F-4D97-AF65-F5344CB8AC3E}">
        <p14:creationId xmlns:p14="http://schemas.microsoft.com/office/powerpoint/2010/main" val="2916550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5C61284-E7DE-434D-8C16-A47FD36126F8}" type="datetimeFigureOut">
              <a:rPr lang="en-IN" smtClean="0"/>
              <a:t>22-01-2026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53D924E-420C-4717-B167-6B58022759AB}" type="slidenum">
              <a:rPr lang="en-IN" smtClean="0"/>
              <a:t>‹#›</a:t>
            </a:fld>
            <a:endParaRPr lang="en-IN"/>
          </a:p>
        </p:txBody>
      </p:sp>
    </p:spTree>
    <p:extLst>
      <p:ext uri="{BB962C8B-B14F-4D97-AF65-F5344CB8AC3E}">
        <p14:creationId xmlns:p14="http://schemas.microsoft.com/office/powerpoint/2010/main" val="596667892"/>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Hospitality Analysis</a:t>
            </a:r>
          </a:p>
        </p:txBody>
      </p:sp>
      <p:sp>
        <p:nvSpPr>
          <p:cNvPr id="3" name="Subtitle 2"/>
          <p:cNvSpPr>
            <a:spLocks noGrp="1"/>
          </p:cNvSpPr>
          <p:nvPr>
            <p:ph type="subTitle" idx="1"/>
          </p:nvPr>
        </p:nvSpPr>
        <p:spPr/>
        <p:txBody>
          <a:bodyPr/>
          <a:lstStyle/>
          <a:p>
            <a:r>
              <a:rPr lang="en-US" dirty="0"/>
              <a:t>SQL </a:t>
            </a:r>
            <a:r>
              <a:rPr dirty="0"/>
              <a:t>Power</a:t>
            </a:r>
            <a:r>
              <a:rPr lang="en-IN" dirty="0"/>
              <a:t> |</a:t>
            </a:r>
            <a:r>
              <a:rPr dirty="0"/>
              <a:t> BI | Tableau | Excel Dashboard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4222E-E576-9F2E-1386-243005FBEBA8}"/>
              </a:ext>
            </a:extLst>
          </p:cNvPr>
          <p:cNvSpPr>
            <a:spLocks noGrp="1"/>
          </p:cNvSpPr>
          <p:nvPr>
            <p:ph type="title"/>
          </p:nvPr>
        </p:nvSpPr>
        <p:spPr/>
        <p:txBody>
          <a:bodyPr/>
          <a:lstStyle/>
          <a:p>
            <a:r>
              <a:rPr lang="en-US" dirty="0"/>
              <a:t>MEET OUR TEAM</a:t>
            </a:r>
            <a:endParaRPr lang="en-IN" dirty="0"/>
          </a:p>
        </p:txBody>
      </p:sp>
      <p:sp>
        <p:nvSpPr>
          <p:cNvPr id="3" name="Content Placeholder 2">
            <a:extLst>
              <a:ext uri="{FF2B5EF4-FFF2-40B4-BE49-F238E27FC236}">
                <a16:creationId xmlns:a16="http://schemas.microsoft.com/office/drawing/2014/main" id="{06286CA7-E4EB-6608-0010-3CB6D3B5376E}"/>
              </a:ext>
            </a:extLst>
          </p:cNvPr>
          <p:cNvSpPr>
            <a:spLocks noGrp="1"/>
          </p:cNvSpPr>
          <p:nvPr>
            <p:ph sz="half" idx="1"/>
          </p:nvPr>
        </p:nvSpPr>
        <p:spPr>
          <a:xfrm>
            <a:off x="1934876" y="2545519"/>
            <a:ext cx="4716445" cy="3809353"/>
          </a:xfrm>
        </p:spPr>
        <p:txBody>
          <a:bodyPr/>
          <a:lstStyle/>
          <a:p>
            <a:r>
              <a:rPr lang="en-IN" dirty="0"/>
              <a:t>A C Deeksha</a:t>
            </a:r>
          </a:p>
          <a:p>
            <a:r>
              <a:rPr lang="en-IN" dirty="0"/>
              <a:t>D Kushwanth	</a:t>
            </a:r>
          </a:p>
          <a:p>
            <a:r>
              <a:rPr lang="en-IN" dirty="0" err="1"/>
              <a:t>Ellutla</a:t>
            </a:r>
            <a:r>
              <a:rPr lang="en-IN" dirty="0"/>
              <a:t> Dinesh	</a:t>
            </a:r>
          </a:p>
          <a:p>
            <a:pPr marL="0" indent="0">
              <a:buNone/>
            </a:pPr>
            <a:endParaRPr lang="en-IN" dirty="0"/>
          </a:p>
        </p:txBody>
      </p:sp>
      <p:sp>
        <p:nvSpPr>
          <p:cNvPr id="5" name="Content Placeholder 4">
            <a:extLst>
              <a:ext uri="{FF2B5EF4-FFF2-40B4-BE49-F238E27FC236}">
                <a16:creationId xmlns:a16="http://schemas.microsoft.com/office/drawing/2014/main" id="{884A472D-064A-D4FC-78C7-22E54C8D8152}"/>
              </a:ext>
            </a:extLst>
          </p:cNvPr>
          <p:cNvSpPr>
            <a:spLocks noGrp="1"/>
          </p:cNvSpPr>
          <p:nvPr>
            <p:ph sz="half" idx="2"/>
          </p:nvPr>
        </p:nvSpPr>
        <p:spPr>
          <a:xfrm>
            <a:off x="7290147" y="2545519"/>
            <a:ext cx="4716445" cy="3702881"/>
          </a:xfrm>
        </p:spPr>
        <p:txBody>
          <a:bodyPr/>
          <a:lstStyle/>
          <a:p>
            <a:r>
              <a:rPr lang="en-IN" dirty="0"/>
              <a:t>MAHI MITHRA.R	</a:t>
            </a:r>
          </a:p>
          <a:p>
            <a:r>
              <a:rPr lang="en-IN" dirty="0"/>
              <a:t>Vaishno Sharma	</a:t>
            </a:r>
          </a:p>
          <a:p>
            <a:r>
              <a:rPr lang="en-IN" dirty="0"/>
              <a:t>Manasi Ratnakar Tupe</a:t>
            </a:r>
          </a:p>
          <a:p>
            <a:endParaRPr lang="en-IN" dirty="0"/>
          </a:p>
        </p:txBody>
      </p:sp>
      <p:sp>
        <p:nvSpPr>
          <p:cNvPr id="7" name="TextBox 6">
            <a:extLst>
              <a:ext uri="{FF2B5EF4-FFF2-40B4-BE49-F238E27FC236}">
                <a16:creationId xmlns:a16="http://schemas.microsoft.com/office/drawing/2014/main" id="{D5D25F27-B656-9E6A-1D6B-CA45A68328FD}"/>
              </a:ext>
            </a:extLst>
          </p:cNvPr>
          <p:cNvSpPr txBox="1"/>
          <p:nvPr/>
        </p:nvSpPr>
        <p:spPr>
          <a:xfrm>
            <a:off x="5510932" y="5486400"/>
            <a:ext cx="1159485" cy="369332"/>
          </a:xfrm>
          <a:prstGeom prst="rect">
            <a:avLst/>
          </a:prstGeom>
          <a:noFill/>
        </p:spPr>
        <p:txBody>
          <a:bodyPr wrap="none" rtlCol="0">
            <a:spAutoFit/>
          </a:bodyPr>
          <a:lstStyle/>
          <a:p>
            <a:r>
              <a:rPr lang="en-US" dirty="0"/>
              <a:t>GROUP 6</a:t>
            </a:r>
            <a:endParaRPr lang="en-IN" dirty="0"/>
          </a:p>
        </p:txBody>
      </p:sp>
    </p:spTree>
    <p:extLst>
      <p:ext uri="{BB962C8B-B14F-4D97-AF65-F5344CB8AC3E}">
        <p14:creationId xmlns:p14="http://schemas.microsoft.com/office/powerpoint/2010/main" val="1537417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E900B-1D04-775D-FC0D-F6A6663B4F2E}"/>
              </a:ext>
            </a:extLst>
          </p:cNvPr>
          <p:cNvSpPr>
            <a:spLocks noGrp="1"/>
          </p:cNvSpPr>
          <p:nvPr>
            <p:ph type="title"/>
          </p:nvPr>
        </p:nvSpPr>
        <p:spPr>
          <a:xfrm>
            <a:off x="913795" y="1"/>
            <a:ext cx="10353761" cy="1014608"/>
          </a:xfrm>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42B734E-978F-F24D-8FE8-215A6D67879C}"/>
              </a:ext>
            </a:extLst>
          </p:cNvPr>
          <p:cNvSpPr>
            <a:spLocks noGrp="1"/>
          </p:cNvSpPr>
          <p:nvPr>
            <p:ph sz="half" idx="1"/>
          </p:nvPr>
        </p:nvSpPr>
        <p:spPr>
          <a:xfrm>
            <a:off x="526092" y="1265129"/>
            <a:ext cx="5569907" cy="5448822"/>
          </a:xfrm>
        </p:spPr>
        <p:txBody>
          <a:bodyPr>
            <a:normAutofit fontScale="85000" lnSpcReduction="10000"/>
          </a:bodyPr>
          <a:lstStyle/>
          <a:p>
            <a:r>
              <a:rPr lang="en-US" sz="2900" dirty="0"/>
              <a:t>Introduction</a:t>
            </a:r>
          </a:p>
          <a:p>
            <a:r>
              <a:rPr lang="en-US" sz="2900" dirty="0"/>
              <a:t>Project overview</a:t>
            </a:r>
          </a:p>
          <a:p>
            <a:r>
              <a:rPr lang="en-US" sz="2900" dirty="0"/>
              <a:t> Key KPIs</a:t>
            </a:r>
            <a:br>
              <a:rPr lang="en-US" sz="2900" dirty="0"/>
            </a:br>
            <a:r>
              <a:rPr lang="en-US" sz="2900" dirty="0"/>
              <a:t>1. Revenue</a:t>
            </a:r>
            <a:br>
              <a:rPr lang="en-US" sz="2900" dirty="0"/>
            </a:br>
            <a:r>
              <a:rPr lang="en-US" sz="2900" dirty="0"/>
              <a:t>2. Occupancy rate</a:t>
            </a:r>
            <a:br>
              <a:rPr lang="en-US" sz="2900" dirty="0"/>
            </a:br>
            <a:r>
              <a:rPr lang="en-US" sz="2900" dirty="0"/>
              <a:t>3. Average daily rate</a:t>
            </a:r>
            <a:br>
              <a:rPr lang="en-US" sz="2900" dirty="0"/>
            </a:br>
            <a:r>
              <a:rPr lang="en-US" sz="2900" dirty="0"/>
              <a:t>4. Revenue per available room</a:t>
            </a:r>
          </a:p>
          <a:p>
            <a:r>
              <a:rPr lang="en-IN" sz="2900" dirty="0"/>
              <a:t>Dashboards</a:t>
            </a:r>
            <a:br>
              <a:rPr lang="en-IN" sz="2900" dirty="0"/>
            </a:br>
            <a:r>
              <a:rPr lang="en-IN" sz="2900" dirty="0"/>
              <a:t>1. Excel</a:t>
            </a:r>
            <a:br>
              <a:rPr lang="en-IN" sz="2900" dirty="0"/>
            </a:br>
            <a:r>
              <a:rPr lang="en-IN" sz="2900" dirty="0"/>
              <a:t>2. </a:t>
            </a:r>
            <a:r>
              <a:rPr lang="en-IN" sz="2900" dirty="0" err="1"/>
              <a:t>PowerBi</a:t>
            </a:r>
            <a:br>
              <a:rPr lang="en-IN" sz="2900" dirty="0"/>
            </a:br>
            <a:r>
              <a:rPr lang="en-IN" sz="2900" dirty="0"/>
              <a:t>3. Tableau</a:t>
            </a:r>
          </a:p>
          <a:p>
            <a:r>
              <a:rPr lang="en-IN" sz="2900" dirty="0"/>
              <a:t>Recommendations</a:t>
            </a:r>
          </a:p>
          <a:p>
            <a:r>
              <a:rPr lang="en-IN" sz="2900" dirty="0"/>
              <a:t>Conclusion</a:t>
            </a:r>
            <a:br>
              <a:rPr lang="en-IN" dirty="0"/>
            </a:br>
            <a:endParaRPr lang="en-US" dirty="0"/>
          </a:p>
        </p:txBody>
      </p:sp>
    </p:spTree>
    <p:extLst>
      <p:ext uri="{BB962C8B-B14F-4D97-AF65-F5344CB8AC3E}">
        <p14:creationId xmlns:p14="http://schemas.microsoft.com/office/powerpoint/2010/main" val="2300232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pPr marL="0" indent="0" algn="just">
              <a:buNone/>
            </a:pPr>
            <a:r>
              <a:rPr lang="en-US" dirty="0"/>
              <a:t>The hospitality industry generates large volumes of operational and transactional data related to bookings, revenue, occupancy, and pricing. To remain competitive, organizations need the ability to transform this raw data into meaningful insights that support strategic decision-making. This project will leverage modern data analytics tools such as </a:t>
            </a:r>
            <a:r>
              <a:rPr lang="en-US" b="1" dirty="0"/>
              <a:t>Excel, Tableau, and Power BI</a:t>
            </a:r>
            <a:r>
              <a:rPr lang="en-US" dirty="0"/>
              <a:t> to analyze hotel performance and visualize key business metrics. By using interactive dashboards, the analysis enables stakeholders for quickly understanding trends, compare performance across properties and cities, and identify areas for improvement.</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p:txBody>
          <a:bodyPr>
            <a:normAutofit/>
          </a:bodyPr>
          <a:lstStyle/>
          <a:p>
            <a:pPr marL="0" indent="0" algn="just">
              <a:buNone/>
            </a:pPr>
            <a:r>
              <a:rPr lang="en-US" dirty="0"/>
              <a:t>This project focuses on analyzing hospitality business performance using a combination of </a:t>
            </a:r>
            <a:r>
              <a:rPr lang="en-US" b="1" dirty="0"/>
              <a:t>Excel for data preparation</a:t>
            </a:r>
            <a:r>
              <a:rPr lang="en-US" dirty="0"/>
              <a:t>, </a:t>
            </a:r>
            <a:r>
              <a:rPr lang="en-US" b="1" dirty="0"/>
              <a:t>Tableau for detailed exploratory analysis</a:t>
            </a:r>
            <a:r>
              <a:rPr lang="en-US" dirty="0"/>
              <a:t>, and </a:t>
            </a:r>
            <a:r>
              <a:rPr lang="en-US" b="1" dirty="0"/>
              <a:t>Power BI for interactive and executive-level dashboards</a:t>
            </a:r>
            <a:r>
              <a:rPr lang="en-US" dirty="0"/>
              <a:t>. The dataset includes booking information, property details, revenue metrics, and time-based data, which were cleaned, validated, and transformed to ensure accuracy. Key hospitality KPIs such as </a:t>
            </a:r>
            <a:r>
              <a:rPr lang="en-US" b="1" dirty="0"/>
              <a:t>Revenue, Occupancy Rate, Average Daily Rate (ADR), and Revenue per Available Room (RevPAR)</a:t>
            </a:r>
            <a:r>
              <a:rPr lang="en-US" dirty="0"/>
              <a:t> were calculated and visualized. The dashboards provide a consolidated view of performance across different locations and time periods, enabling data-driven insights into demand patterns, pricing efficiency, and overall revenue performance.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KPI</a:t>
            </a:r>
            <a:r>
              <a:rPr lang="en-US" sz="2000" dirty="0"/>
              <a:t>S</a:t>
            </a:r>
            <a:endParaRPr dirty="0"/>
          </a:p>
        </p:txBody>
      </p:sp>
      <p:sp>
        <p:nvSpPr>
          <p:cNvPr id="3" name="Content Placeholder 2"/>
          <p:cNvSpPr>
            <a:spLocks noGrp="1"/>
          </p:cNvSpPr>
          <p:nvPr>
            <p:ph idx="1"/>
          </p:nvPr>
        </p:nvSpPr>
        <p:spPr/>
        <p:txBody>
          <a:bodyPr/>
          <a:lstStyle/>
          <a:p>
            <a:r>
              <a:rPr lang="en-US" dirty="0"/>
              <a:t>Revenue</a:t>
            </a:r>
          </a:p>
          <a:p>
            <a:r>
              <a:rPr lang="en-US" dirty="0"/>
              <a:t>Occupancy rate</a:t>
            </a:r>
          </a:p>
          <a:p>
            <a:r>
              <a:rPr lang="en-US" dirty="0"/>
              <a:t>Average daily rate</a:t>
            </a:r>
          </a:p>
          <a:p>
            <a:r>
              <a:rPr lang="en-US" dirty="0"/>
              <a:t>Revenue per available room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Revenue</a:t>
            </a:r>
            <a:endParaRPr dirty="0"/>
          </a:p>
        </p:txBody>
      </p:sp>
      <p:sp>
        <p:nvSpPr>
          <p:cNvPr id="3" name="Content Placeholder 2"/>
          <p:cNvSpPr>
            <a:spLocks noGrp="1"/>
          </p:cNvSpPr>
          <p:nvPr>
            <p:ph idx="1"/>
          </p:nvPr>
        </p:nvSpPr>
        <p:spPr/>
        <p:txBody>
          <a:bodyPr/>
          <a:lstStyle/>
          <a:p>
            <a:pPr marL="0" indent="0" algn="just">
              <a:buNone/>
            </a:pPr>
            <a:r>
              <a:rPr lang="en-US" dirty="0"/>
              <a:t>Revenue represents the </a:t>
            </a:r>
            <a:r>
              <a:rPr lang="en-US" b="1" dirty="0"/>
              <a:t>total income generated from room bookings</a:t>
            </a:r>
            <a:r>
              <a:rPr lang="en-US" dirty="0"/>
              <a:t> over a selected time period. It is calculated by summing the room revenue from all confirmed bookings. This KPI provides a direct measure of the overall financial performance of the hospitality business. In the Power BI and Tableau dashboards, revenue is analyzed across cities, properties, and time periods to identify growth trends, top-performing locations, and periods of high or low demand.</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7FA6B-9C0A-04E9-2444-3FEDFE660418}"/>
              </a:ext>
            </a:extLst>
          </p:cNvPr>
          <p:cNvSpPr>
            <a:spLocks noGrp="1"/>
          </p:cNvSpPr>
          <p:nvPr>
            <p:ph type="title"/>
          </p:nvPr>
        </p:nvSpPr>
        <p:spPr/>
        <p:txBody>
          <a:bodyPr/>
          <a:lstStyle/>
          <a:p>
            <a:r>
              <a:rPr lang="en-US" dirty="0"/>
              <a:t>Occupancy rate</a:t>
            </a:r>
            <a:endParaRPr lang="en-IN" dirty="0"/>
          </a:p>
        </p:txBody>
      </p:sp>
      <p:sp>
        <p:nvSpPr>
          <p:cNvPr id="3" name="Content Placeholder 2">
            <a:extLst>
              <a:ext uri="{FF2B5EF4-FFF2-40B4-BE49-F238E27FC236}">
                <a16:creationId xmlns:a16="http://schemas.microsoft.com/office/drawing/2014/main" id="{1C2FC83E-986B-CCAD-B929-39F7D1DDD263}"/>
              </a:ext>
            </a:extLst>
          </p:cNvPr>
          <p:cNvSpPr>
            <a:spLocks noGrp="1"/>
          </p:cNvSpPr>
          <p:nvPr>
            <p:ph idx="1"/>
          </p:nvPr>
        </p:nvSpPr>
        <p:spPr/>
        <p:txBody>
          <a:bodyPr/>
          <a:lstStyle/>
          <a:p>
            <a:pPr marL="0" indent="0" algn="just">
              <a:buNone/>
            </a:pPr>
            <a:r>
              <a:rPr lang="en-US" dirty="0"/>
              <a:t>Occupancy Rate measures the </a:t>
            </a:r>
            <a:r>
              <a:rPr lang="en-US" b="1" dirty="0"/>
              <a:t>percentage of available rooms that are occupied</a:t>
            </a:r>
            <a:r>
              <a:rPr lang="en-US" dirty="0"/>
              <a:t> during a given period. It is calculated by dividing the number of rooms sold by the total number of rooms available. This KPI reflects </a:t>
            </a:r>
            <a:r>
              <a:rPr lang="en-US" b="1" dirty="0"/>
              <a:t>customer demand and capacity utilization</a:t>
            </a:r>
            <a:r>
              <a:rPr lang="en-US" dirty="0"/>
              <a:t>. Through the dashboards, occupancy trends help identify peak seasons, off-peak periods, and underutilized properties, enabling better demand management and operational planning.</a:t>
            </a:r>
          </a:p>
          <a:p>
            <a:pPr marL="0" indent="0" algn="just">
              <a:buNone/>
            </a:pPr>
            <a:endParaRPr lang="en-IN" dirty="0"/>
          </a:p>
        </p:txBody>
      </p:sp>
    </p:spTree>
    <p:extLst>
      <p:ext uri="{BB962C8B-B14F-4D97-AF65-F5344CB8AC3E}">
        <p14:creationId xmlns:p14="http://schemas.microsoft.com/office/powerpoint/2010/main" val="1048436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646B6-3362-F2B9-0699-921255B5D119}"/>
              </a:ext>
            </a:extLst>
          </p:cNvPr>
          <p:cNvSpPr>
            <a:spLocks noGrp="1"/>
          </p:cNvSpPr>
          <p:nvPr>
            <p:ph type="title"/>
          </p:nvPr>
        </p:nvSpPr>
        <p:spPr/>
        <p:txBody>
          <a:bodyPr/>
          <a:lstStyle/>
          <a:p>
            <a:r>
              <a:rPr lang="en-US" dirty="0"/>
              <a:t>Average Daily Rate (ADR)</a:t>
            </a:r>
            <a:br>
              <a:rPr lang="en-US" dirty="0"/>
            </a:br>
            <a:endParaRPr lang="en-IN" dirty="0"/>
          </a:p>
        </p:txBody>
      </p:sp>
      <p:sp>
        <p:nvSpPr>
          <p:cNvPr id="3" name="Content Placeholder 2">
            <a:extLst>
              <a:ext uri="{FF2B5EF4-FFF2-40B4-BE49-F238E27FC236}">
                <a16:creationId xmlns:a16="http://schemas.microsoft.com/office/drawing/2014/main" id="{460B6C55-EF61-2A2E-3247-1D06FA9DCF46}"/>
              </a:ext>
            </a:extLst>
          </p:cNvPr>
          <p:cNvSpPr>
            <a:spLocks noGrp="1"/>
          </p:cNvSpPr>
          <p:nvPr>
            <p:ph idx="1"/>
          </p:nvPr>
        </p:nvSpPr>
        <p:spPr/>
        <p:txBody>
          <a:bodyPr/>
          <a:lstStyle/>
          <a:p>
            <a:pPr marL="0" indent="0" algn="just">
              <a:buNone/>
            </a:pPr>
            <a:r>
              <a:rPr lang="en-US" dirty="0"/>
              <a:t>ADR, or Average Daily Rate, represents the </a:t>
            </a:r>
            <a:r>
              <a:rPr lang="en-US" b="1" dirty="0"/>
              <a:t>average revenue earned per occupied room</a:t>
            </a:r>
            <a:r>
              <a:rPr lang="en-US" dirty="0"/>
              <a:t>. It is calculated by dividing total room revenue by the number of rooms sold. ADR focuses on </a:t>
            </a:r>
            <a:r>
              <a:rPr lang="en-US" b="1" dirty="0"/>
              <a:t>pricing performance rather than volume</a:t>
            </a:r>
            <a:r>
              <a:rPr lang="en-US" dirty="0"/>
              <a:t>. In the dashboards, ADR is used to compare pricing strategies across different hotels and locations and to assess whether rooms are being sold at optimal rates.</a:t>
            </a:r>
          </a:p>
          <a:p>
            <a:pPr marL="0" indent="0">
              <a:buNone/>
            </a:pPr>
            <a:endParaRPr lang="en-IN" dirty="0"/>
          </a:p>
        </p:txBody>
      </p:sp>
    </p:spTree>
    <p:extLst>
      <p:ext uri="{BB962C8B-B14F-4D97-AF65-F5344CB8AC3E}">
        <p14:creationId xmlns:p14="http://schemas.microsoft.com/office/powerpoint/2010/main" val="3260968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26E07-A9E6-205B-6424-35558E2BBDE9}"/>
              </a:ext>
            </a:extLst>
          </p:cNvPr>
          <p:cNvSpPr>
            <a:spLocks noGrp="1"/>
          </p:cNvSpPr>
          <p:nvPr>
            <p:ph type="title"/>
          </p:nvPr>
        </p:nvSpPr>
        <p:spPr/>
        <p:txBody>
          <a:bodyPr/>
          <a:lstStyle/>
          <a:p>
            <a:r>
              <a:rPr lang="en-US" dirty="0"/>
              <a:t>Revenue per Available Room (RevPAR)</a:t>
            </a:r>
            <a:endParaRPr lang="en-IN" dirty="0"/>
          </a:p>
        </p:txBody>
      </p:sp>
      <p:sp>
        <p:nvSpPr>
          <p:cNvPr id="3" name="Content Placeholder 2">
            <a:extLst>
              <a:ext uri="{FF2B5EF4-FFF2-40B4-BE49-F238E27FC236}">
                <a16:creationId xmlns:a16="http://schemas.microsoft.com/office/drawing/2014/main" id="{3B305B02-2095-3A75-E81F-1DF10C2CC6E8}"/>
              </a:ext>
            </a:extLst>
          </p:cNvPr>
          <p:cNvSpPr>
            <a:spLocks noGrp="1"/>
          </p:cNvSpPr>
          <p:nvPr>
            <p:ph idx="1"/>
          </p:nvPr>
        </p:nvSpPr>
        <p:spPr/>
        <p:txBody>
          <a:bodyPr/>
          <a:lstStyle/>
          <a:p>
            <a:pPr marL="0" indent="0" algn="just">
              <a:buNone/>
            </a:pPr>
            <a:r>
              <a:rPr lang="en-US" dirty="0"/>
              <a:t>RevPAR, or Revenue per Available Room, combines both </a:t>
            </a:r>
            <a:r>
              <a:rPr lang="en-US" b="1" dirty="0"/>
              <a:t>occupancy and pricing efficiency</a:t>
            </a:r>
            <a:r>
              <a:rPr lang="en-US" dirty="0"/>
              <a:t> into a single metric. It is calculated either by multiplying ADR by the occupancy rate or by dividing total room revenue by the total number of available rooms. RevPAR is one of the most critical KPIs in the hospitality industry, as it indicates how effectively a property is generating revenue from its available inventory. The dashboards use RevPAR to identify high-performing properties and areas where pricing or demand strategies need improvement.</a:t>
            </a:r>
            <a:endParaRPr lang="en-IN" dirty="0"/>
          </a:p>
        </p:txBody>
      </p:sp>
    </p:spTree>
    <p:extLst>
      <p:ext uri="{BB962C8B-B14F-4D97-AF65-F5344CB8AC3E}">
        <p14:creationId xmlns:p14="http://schemas.microsoft.com/office/powerpoint/2010/main" val="3871375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70793-8B98-AAB9-83B8-1C5CE1453DA1}"/>
              </a:ext>
            </a:extLst>
          </p:cNvPr>
          <p:cNvSpPr>
            <a:spLocks noGrp="1"/>
          </p:cNvSpPr>
          <p:nvPr>
            <p:ph type="title"/>
          </p:nvPr>
        </p:nvSpPr>
        <p:spPr/>
        <p:txBody>
          <a:bodyPr/>
          <a:lstStyle/>
          <a:p>
            <a:r>
              <a:rPr lang="en-US" dirty="0"/>
              <a:t>DASHBOARD</a:t>
            </a:r>
            <a:endParaRPr lang="en-IN" dirty="0"/>
          </a:p>
        </p:txBody>
      </p:sp>
      <p:sp>
        <p:nvSpPr>
          <p:cNvPr id="3" name="Content Placeholder 2">
            <a:extLst>
              <a:ext uri="{FF2B5EF4-FFF2-40B4-BE49-F238E27FC236}">
                <a16:creationId xmlns:a16="http://schemas.microsoft.com/office/drawing/2014/main" id="{F92341CE-8DAF-2052-D698-8A89A2D5E2DC}"/>
              </a:ext>
            </a:extLst>
          </p:cNvPr>
          <p:cNvSpPr>
            <a:spLocks noGrp="1"/>
          </p:cNvSpPr>
          <p:nvPr>
            <p:ph idx="1"/>
          </p:nvPr>
        </p:nvSpPr>
        <p:spPr/>
        <p:txBody>
          <a:bodyPr/>
          <a:lstStyle/>
          <a:p>
            <a:r>
              <a:rPr lang="en-US" dirty="0"/>
              <a:t>Excel</a:t>
            </a:r>
          </a:p>
          <a:p>
            <a:r>
              <a:rPr lang="en-US" dirty="0" err="1"/>
              <a:t>PowerBi</a:t>
            </a:r>
            <a:endParaRPr lang="en-US" dirty="0"/>
          </a:p>
          <a:p>
            <a:r>
              <a:rPr lang="en-US" dirty="0"/>
              <a:t>Tableau</a:t>
            </a:r>
          </a:p>
          <a:p>
            <a:endParaRPr lang="en-IN" dirty="0"/>
          </a:p>
        </p:txBody>
      </p:sp>
    </p:spTree>
    <p:extLst>
      <p:ext uri="{BB962C8B-B14F-4D97-AF65-F5344CB8AC3E}">
        <p14:creationId xmlns:p14="http://schemas.microsoft.com/office/powerpoint/2010/main" val="2642014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50104"/>
            <a:ext cx="10353761" cy="814192"/>
          </a:xfrm>
        </p:spPr>
        <p:txBody>
          <a:bodyPr>
            <a:normAutofit/>
          </a:bodyPr>
          <a:lstStyle/>
          <a:p>
            <a:r>
              <a:rPr lang="en-US" sz="2400" dirty="0"/>
              <a:t>Excel</a:t>
            </a:r>
            <a:endParaRPr sz="2400" dirty="0"/>
          </a:p>
        </p:txBody>
      </p:sp>
      <p:pic>
        <p:nvPicPr>
          <p:cNvPr id="6" name="Content Placeholder 5">
            <a:extLst>
              <a:ext uri="{FF2B5EF4-FFF2-40B4-BE49-F238E27FC236}">
                <a16:creationId xmlns:a16="http://schemas.microsoft.com/office/drawing/2014/main" id="{D55F76C0-772D-5B10-C7A9-26C99A94B3D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901" t="26617" r="13069" b="19953"/>
          <a:stretch>
            <a:fillRect/>
          </a:stretch>
        </p:blipFill>
        <p:spPr>
          <a:xfrm>
            <a:off x="158663" y="1027133"/>
            <a:ext cx="11874674" cy="5624187"/>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
            <a:ext cx="10353761" cy="889346"/>
          </a:xfrm>
        </p:spPr>
        <p:txBody>
          <a:bodyPr>
            <a:normAutofit/>
          </a:bodyPr>
          <a:lstStyle/>
          <a:p>
            <a:r>
              <a:rPr sz="2400" dirty="0"/>
              <a:t>Power BI</a:t>
            </a:r>
          </a:p>
        </p:txBody>
      </p:sp>
      <p:pic>
        <p:nvPicPr>
          <p:cNvPr id="5" name="Content Placeholder 4">
            <a:extLst>
              <a:ext uri="{FF2B5EF4-FFF2-40B4-BE49-F238E27FC236}">
                <a16:creationId xmlns:a16="http://schemas.microsoft.com/office/drawing/2014/main" id="{BF59FFEB-B58D-B66F-3AC8-967E14D21B9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578" t="10408" r="12687" b="14348"/>
          <a:stretch>
            <a:fillRect/>
          </a:stretch>
        </p:blipFill>
        <p:spPr>
          <a:xfrm>
            <a:off x="175364" y="889347"/>
            <a:ext cx="11862148" cy="5811631"/>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0"/>
            <a:ext cx="10353761" cy="1077237"/>
          </a:xfrm>
        </p:spPr>
        <p:txBody>
          <a:bodyPr>
            <a:normAutofit/>
          </a:bodyPr>
          <a:lstStyle/>
          <a:p>
            <a:r>
              <a:rPr sz="2400" dirty="0"/>
              <a:t>Tableau</a:t>
            </a:r>
          </a:p>
        </p:txBody>
      </p:sp>
      <p:pic>
        <p:nvPicPr>
          <p:cNvPr id="5" name="Content Placeholder 4">
            <a:extLst>
              <a:ext uri="{FF2B5EF4-FFF2-40B4-BE49-F238E27FC236}">
                <a16:creationId xmlns:a16="http://schemas.microsoft.com/office/drawing/2014/main" id="{D91A82FB-2863-7F4A-23EC-830DFD92DDF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8375" b="9603"/>
          <a:stretch>
            <a:fillRect/>
          </a:stretch>
        </p:blipFill>
        <p:spPr>
          <a:xfrm>
            <a:off x="208768" y="1077238"/>
            <a:ext cx="11774464" cy="5636713"/>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pPr marL="0" indent="0" algn="just">
              <a:buNone/>
            </a:pPr>
            <a:r>
              <a:rPr lang="en-US" dirty="0"/>
              <a:t>Based on insights derived from the Power BI, Tableau, and Excel dashboards, several actionable recommendations can be made. Properties with consistently low occupancy rates should focus on targeted promotions and demand-generation strategies during off-peak periods. Hotels showing high occupancy but lower ADR can improve pricing strategies to maximize revenue without impacting demand. Management should prioritize cities and properties with higher RevPAR, as they indicate optimal balance between pricing and occupancy. Regular monitoring of these KPIs through dashboards will help stakeholders quickly respond to market changes and optimize operational and pricing decisions.</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7"/>
            <a:ext cx="9733512" cy="936796"/>
          </a:xfrm>
        </p:spPr>
        <p:txBody>
          <a:bodyPr/>
          <a:lstStyle/>
          <a:p>
            <a:r>
              <a:rPr dirty="0"/>
              <a:t>Conclusion</a:t>
            </a:r>
          </a:p>
        </p:txBody>
      </p:sp>
      <p:sp>
        <p:nvSpPr>
          <p:cNvPr id="3" name="Text Placeholder 2"/>
          <p:cNvSpPr>
            <a:spLocks noGrp="1"/>
          </p:cNvSpPr>
          <p:nvPr>
            <p:ph type="body" idx="1"/>
          </p:nvPr>
        </p:nvSpPr>
        <p:spPr>
          <a:xfrm>
            <a:off x="1229244" y="2051222"/>
            <a:ext cx="9733512" cy="3051003"/>
          </a:xfrm>
        </p:spPr>
        <p:txBody>
          <a:bodyPr>
            <a:normAutofit lnSpcReduction="10000"/>
          </a:bodyPr>
          <a:lstStyle/>
          <a:p>
            <a:pPr algn="just"/>
            <a:r>
              <a:rPr lang="en-US" dirty="0"/>
              <a:t>In conclusion, this project demonstrates how data analytics tools can be effectively used to transform hospitality data into actionable business insights. By integrating Excel, Tableau, and Power BI dashboards, the analysis provides a comprehensive view of revenue performance, demand trends, and pricing efficiency. The dashboards serve as a single source of truth for stakeholders, enabling faster decision-making and improved strategic planning. This data-driven approach helps hospitality businesses enhance profitability, optimize resource utilization, and maintain a competitive advantage.</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Thank You</a:t>
            </a:r>
            <a:r>
              <a:rPr lang="en-US" dirty="0"/>
              <a:t>!</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329</TotalTime>
  <Words>839</Words>
  <Application>Microsoft Office PowerPoint</Application>
  <PresentationFormat>Widescreen</PresentationFormat>
  <Paragraphs>46</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Century Gothic</vt:lpstr>
      <vt:lpstr>Wingdings 3</vt:lpstr>
      <vt:lpstr>Ion</vt:lpstr>
      <vt:lpstr>Hospitality Analysis</vt:lpstr>
      <vt:lpstr>MEET OUR TEAM</vt:lpstr>
      <vt:lpstr>AGENDA</vt:lpstr>
      <vt:lpstr>Introduction</vt:lpstr>
      <vt:lpstr>Project Overview</vt:lpstr>
      <vt:lpstr>Key KPIS</vt:lpstr>
      <vt:lpstr>Revenue</vt:lpstr>
      <vt:lpstr>Occupancy rate</vt:lpstr>
      <vt:lpstr>Average Daily Rate (ADR) </vt:lpstr>
      <vt:lpstr>Revenue per Available Room (RevPAR)</vt:lpstr>
      <vt:lpstr>DASHBOARD</vt:lpstr>
      <vt:lpstr>Excel</vt:lpstr>
      <vt:lpstr>Power BI</vt:lpstr>
      <vt:lpstr>Tableau</vt:lpstr>
      <vt:lpstr>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Dhilip N</dc:creator>
  <cp:lastModifiedBy>Vaishno Sharma</cp:lastModifiedBy>
  <cp:revision>4</cp:revision>
  <dcterms:created xsi:type="dcterms:W3CDTF">2026-01-13T05:00:30Z</dcterms:created>
  <dcterms:modified xsi:type="dcterms:W3CDTF">2026-01-22T16:30:21Z</dcterms:modified>
</cp:coreProperties>
</file>